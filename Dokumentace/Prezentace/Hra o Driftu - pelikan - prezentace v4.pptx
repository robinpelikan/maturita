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57" r:id="rId7"/>
    <p:sldId id="258" r:id="rId8"/>
    <p:sldId id="268" r:id="rId9"/>
    <p:sldId id="264" r:id="rId10"/>
    <p:sldId id="259" r:id="rId11"/>
    <p:sldId id="265" r:id="rId12"/>
    <p:sldId id="260" r:id="rId13"/>
    <p:sldId id="261" r:id="rId14"/>
    <p:sldId id="262" r:id="rId15"/>
    <p:sldId id="263" r:id="rId16"/>
    <p:sldId id="266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1" d="100"/>
          <a:sy n="61" d="100"/>
        </p:scale>
        <p:origin x="533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496EE2-65D0-DAA6-44FD-E9B233A10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67C1131-632A-97AC-6DCA-FF4F8775C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1C300BD-5982-0DB8-EA9C-7F85CFCA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DC3535-01A4-71F3-B293-DBC31011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84AEF7-E63A-6398-BCFE-6DC853BD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184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B46096-3708-3043-4689-7168318A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34EDBE-F728-C968-E58F-18B8A022A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455CF1-AA7E-D9C9-2AA0-C8A068E6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008710-F100-F1DD-67FE-0651233B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6D5222C-ED9C-6D1E-5B2C-56078502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772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B620A9-2F7C-E435-4DD9-B67DFB9D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5E1DB9B-0D88-B13F-D6F8-35F04CB8F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9D4FD50-E96B-BF08-F3FD-773628C1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D76D7EC-BF67-CB0C-710E-9FD68EBD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312223B-5039-F93C-BC72-B12F0398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651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FE0B65-90BA-111D-79C4-662F7AE1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981C8B-5628-6E8F-493A-3DE40491D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9F3D99C-65B3-0EE6-6A88-C82E50B99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2A761B8-772C-3BEA-0BD7-DC9963850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8DF262B-8A04-BF14-6021-D1E8DEEC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57B2DA0-7365-FF18-139F-0FA3D47E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6258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620AF3-3B43-57B3-CD54-89672DAC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8677BD-3FC3-84C0-D99C-FC200182B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A3F6B1C-73E9-67C5-E73D-C32BCFB67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426B85E-3FB5-9C7A-123D-94DD00039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F12F8D5-31FE-C6EE-A6D9-E38319112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26BDFC47-A44D-47C1-B01E-338CD4B9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7DEC19A-2E18-CFED-F7B5-5D6D7AC1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B8D7D71-AD17-C779-5515-67CA77B89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603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1EBFDA-F08C-1EC3-6597-74798C32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1087E0E-A62B-B9D0-C2F6-02DF4895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11788D4-0DF3-B254-2E67-466CF6308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8EA954A-46AB-09FE-898D-330E6B06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741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E189E93-1F67-03ED-D471-15EF4E76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27B340F-1667-4972-B3ED-66720C56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B779832-9CB4-821C-5475-770A1B5B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247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28E1D2-7A6F-5D5D-A575-521C49551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59CDD4-0BC1-EF54-79EE-419BC6345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FF1AB61-7FBA-E8E8-EB81-976CECADD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6787CE5-FA06-7786-2097-375A3750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7A05E6C-7E8F-31CC-DF84-A7708BC3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CC37F5A-B2BB-4022-15AC-1F9A1A4F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208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C63375-3DCF-BED8-422E-93F9910E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7A7689F-9AA0-9FDB-0F64-7DFBE17B8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6460C7B-187F-AD9D-AE73-088F4F86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B593256-BBBB-000F-BA0B-50B398B2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7B36DD-99E1-47FA-9E95-33360D14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2AFA53F-7AFB-8775-D7B4-C95AEEB7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305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F16CBC-A66A-ACC7-36F6-52DBAAAB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E0CFAF7-8537-5B85-53A8-8286F35C1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4506E44-B181-FC34-7A86-DCB3870D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47DBB4-CE4D-5F06-9D29-6F3C53D2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528B1C-4860-2DF9-204C-F9DA38ED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5381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D15AAA5-789B-1905-A09A-D42984B29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B634F5F-4BD9-A3ED-85CA-310708F04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607CBF5-856C-5F3F-41AA-E799A76F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1B0D8E-F5BF-6769-CAB2-1D661F62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B5D2C30-0125-21FB-741D-04B43EA2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7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559BF53-638E-C3F2-889C-6C1E6052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E6510B9-613D-553F-0DAA-93CCEF640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4748A1E-7298-6CA4-A992-797D791E0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44654-E29B-4CC1-8CAE-82E4E488D8C1}" type="datetimeFigureOut">
              <a:rPr lang="cs-CZ" smtClean="0"/>
              <a:t>19.01.2026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820609A-749E-B9EC-221F-A9C6EFFF8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EB3077-C50B-164D-36E8-D512A435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C4EAB-E2F1-4527-AAA0-2321070F80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353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microsoft.com/office/2007/relationships/hdphoto" Target="../media/hdphoto3.wdp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fif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9C04C745-DC72-69DE-B3D6-0DC3CEFDE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2000"/>
                    </a14:imgEffect>
                    <a14:imgEffect>
                      <a14:brightnessContrast bright="-57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17" t="8023" r="3391" b="5437"/>
          <a:stretch>
            <a:fillRect/>
          </a:stretch>
        </p:blipFill>
        <p:spPr>
          <a:xfrm>
            <a:off x="-3049" y="0"/>
            <a:ext cx="12875631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BFFE396-5D8B-65E7-60B5-F726ECC38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8665" y="569114"/>
            <a:ext cx="6248573" cy="16131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3D závodní hra</a:t>
            </a:r>
            <a:br>
              <a:rPr lang="cs-CZ" sz="7200" dirty="0">
                <a:solidFill>
                  <a:srgbClr val="FFFFFF"/>
                </a:solidFill>
              </a:rPr>
            </a:br>
            <a:r>
              <a:rPr lang="cs-CZ" sz="3600" i="1" dirty="0" err="1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Always</a:t>
            </a:r>
            <a:r>
              <a:rPr lang="cs-CZ" sz="3600" i="1" dirty="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in a Drift</a:t>
            </a:r>
            <a:endParaRPr lang="cs-CZ" sz="7200" i="1" dirty="0">
              <a:solidFill>
                <a:srgbClr val="FFFF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A6E7F94-0CE4-DC81-92A7-746CB0A04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1" y="4122213"/>
            <a:ext cx="10058400" cy="2545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Autor: Robin Pelikán</a:t>
            </a:r>
          </a:p>
          <a:p>
            <a:r>
              <a:rPr lang="cs-CZ" dirty="0">
                <a:solidFill>
                  <a:srgbClr val="FFFFFF"/>
                </a:solidFill>
              </a:rPr>
              <a:t>Vedoucí práce: Mgr. Karel Jindra</a:t>
            </a:r>
          </a:p>
          <a:p>
            <a:r>
              <a:rPr lang="cs-CZ" dirty="0">
                <a:solidFill>
                  <a:srgbClr val="FFFFFF"/>
                </a:solidFill>
              </a:rPr>
              <a:t>Oponent práce: Ing. Pavel Knotek</a:t>
            </a:r>
          </a:p>
        </p:txBody>
      </p:sp>
    </p:spTree>
    <p:extLst>
      <p:ext uri="{BB962C8B-B14F-4D97-AF65-F5344CB8AC3E}">
        <p14:creationId xmlns:p14="http://schemas.microsoft.com/office/powerpoint/2010/main" val="310896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5026A-1CB1-F5F2-6073-A199729D0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D3221914-FF4B-568E-A748-33FA49252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23F1357E-2131-FF25-AF0D-5C34BD19D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2000"/>
                    </a14:imgEffect>
                    <a14:imgEffect>
                      <a14:brightnessContrast bright="-48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4F8DED0-495B-8A33-143C-5C4F44FAF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EA81CD8D-985D-23AB-E898-A137E8554563}"/>
              </a:ext>
            </a:extLst>
          </p:cNvPr>
          <p:cNvSpPr txBox="1"/>
          <p:nvPr/>
        </p:nvSpPr>
        <p:spPr>
          <a:xfrm>
            <a:off x="503854" y="541176"/>
            <a:ext cx="1138334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i="1" dirty="0">
                <a:solidFill>
                  <a:schemeClr val="bg1"/>
                </a:solidFill>
              </a:rPr>
              <a:t>Co je cílem práce ?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Vytvořit v Unity zábavnou 3D závodní hru, kde jde hlavně o driftování a zábavu z jízdy.</a:t>
            </a:r>
          </a:p>
          <a:p>
            <a:r>
              <a:rPr lang="cs-CZ" sz="2400" dirty="0">
                <a:solidFill>
                  <a:schemeClr val="bg1"/>
                </a:solidFill>
              </a:rPr>
              <a:t>Tím také pokrýt „díru na trhu“ kde je málo závodních her které se soustředí na hravost namísto simulace reality.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Spojit minimalistickou grafiku (jednoduché modely) s dobře vypadajícími efekty (kouř od kol, světelné stopy, rozmazání obrazu při rychlosti, zvuk), aby to působilo hravě. Naladit zábavnou fyziku pro 3 různá auta a vytvořit 3 odlišné mapy s důrazem na atmosféru a zvuk.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Hra je pro hráče ve věku od 12 let, které baví výzva a pilování jízdy smykem</a:t>
            </a:r>
          </a:p>
          <a:p>
            <a:r>
              <a:rPr lang="cs-CZ" sz="2400" dirty="0">
                <a:solidFill>
                  <a:schemeClr val="bg1"/>
                </a:solidFill>
              </a:rPr>
              <a:t>(ve stylu </a:t>
            </a:r>
            <a:r>
              <a:rPr lang="cs-CZ" sz="2400" dirty="0" err="1">
                <a:solidFill>
                  <a:schemeClr val="bg1"/>
                </a:solidFill>
              </a:rPr>
              <a:t>Need</a:t>
            </a:r>
            <a:r>
              <a:rPr lang="cs-CZ" sz="2400" dirty="0">
                <a:solidFill>
                  <a:schemeClr val="bg1"/>
                </a:solidFill>
              </a:rPr>
              <a:t> </a:t>
            </a:r>
            <a:r>
              <a:rPr lang="cs-CZ" sz="2400" dirty="0" err="1">
                <a:solidFill>
                  <a:schemeClr val="bg1"/>
                </a:solidFill>
              </a:rPr>
              <a:t>for</a:t>
            </a:r>
            <a:r>
              <a:rPr lang="cs-CZ" sz="2400" dirty="0">
                <a:solidFill>
                  <a:schemeClr val="bg1"/>
                </a:solidFill>
              </a:rPr>
              <a:t> Speed nebo </a:t>
            </a:r>
            <a:r>
              <a:rPr lang="cs-CZ" sz="2400" dirty="0" err="1">
                <a:solidFill>
                  <a:schemeClr val="bg1"/>
                </a:solidFill>
              </a:rPr>
              <a:t>Trackmania</a:t>
            </a:r>
            <a:r>
              <a:rPr lang="cs-CZ" sz="2400" dirty="0">
                <a:solidFill>
                  <a:schemeClr val="bg1"/>
                </a:solidFill>
              </a:rPr>
              <a:t>). Pro ty, co hledají vizuálně hezkou, plynulou a "uspokojivou" akci na odreagování.</a:t>
            </a:r>
          </a:p>
        </p:txBody>
      </p:sp>
    </p:spTree>
    <p:extLst>
      <p:ext uri="{BB962C8B-B14F-4D97-AF65-F5344CB8AC3E}">
        <p14:creationId xmlns:p14="http://schemas.microsoft.com/office/powerpoint/2010/main" val="25288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F41AC-A742-BAB8-0780-1D3740BC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FCAA7498-6E08-1710-20D1-A25F2E753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913953E6-E341-8850-79FB-785ADBB07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2000"/>
                    </a14:imgEffect>
                    <a14:imgEffect>
                      <a14:brightnessContrast bright="-48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6EF7BC7-D928-58EB-5380-8D577455F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D8DE2331-B004-7502-011B-70325B732FB9}"/>
              </a:ext>
            </a:extLst>
          </p:cNvPr>
          <p:cNvSpPr txBox="1"/>
          <p:nvPr/>
        </p:nvSpPr>
        <p:spPr>
          <a:xfrm>
            <a:off x="494022" y="982176"/>
            <a:ext cx="1138334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i="1" dirty="0">
                <a:solidFill>
                  <a:schemeClr val="bg1"/>
                </a:solidFill>
              </a:rPr>
              <a:t>O jaký projekt se jedná?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Mé zadání je 3D videohra, kde je hlavním cílem projet trasu</a:t>
            </a:r>
          </a:p>
          <a:p>
            <a:r>
              <a:rPr lang="cs-CZ" sz="2400" dirty="0">
                <a:solidFill>
                  <a:schemeClr val="bg1"/>
                </a:solidFill>
              </a:rPr>
              <a:t>co nejplynuleji, </a:t>
            </a:r>
            <a:r>
              <a:rPr lang="cs-CZ" sz="2400" dirty="0" err="1">
                <a:solidFill>
                  <a:schemeClr val="bg1"/>
                </a:solidFill>
              </a:rPr>
              <a:t>nerychleji</a:t>
            </a:r>
            <a:r>
              <a:rPr lang="cs-CZ" sz="2400" dirty="0">
                <a:solidFill>
                  <a:schemeClr val="bg1"/>
                </a:solidFill>
              </a:rPr>
              <a:t>, </a:t>
            </a:r>
            <a:r>
              <a:rPr lang="cs-CZ" sz="2400" dirty="0" err="1">
                <a:solidFill>
                  <a:schemeClr val="bg1"/>
                </a:solidFill>
              </a:rPr>
              <a:t>tutíž</a:t>
            </a:r>
            <a:r>
              <a:rPr lang="cs-CZ" sz="2400" dirty="0">
                <a:solidFill>
                  <a:schemeClr val="bg1"/>
                </a:solidFill>
              </a:rPr>
              <a:t> smykem, nebo-</a:t>
            </a:r>
            <a:r>
              <a:rPr lang="cs-CZ" sz="2400" dirty="0" err="1">
                <a:solidFill>
                  <a:schemeClr val="bg1"/>
                </a:solidFill>
              </a:rPr>
              <a:t>li</a:t>
            </a:r>
            <a:r>
              <a:rPr lang="cs-CZ" sz="2400" dirty="0">
                <a:solidFill>
                  <a:schemeClr val="bg1"/>
                </a:solidFill>
              </a:rPr>
              <a:t> driftem.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Hra je vyvíjena v Unity, jejím charakterem jsou minimalistické modely a textury,</a:t>
            </a:r>
          </a:p>
          <a:p>
            <a:r>
              <a:rPr lang="cs-CZ" sz="2400" dirty="0">
                <a:solidFill>
                  <a:schemeClr val="bg1"/>
                </a:solidFill>
              </a:rPr>
              <a:t>doplněné estetickým a </a:t>
            </a:r>
            <a:r>
              <a:rPr lang="cs-CZ" sz="2400" dirty="0" err="1">
                <a:solidFill>
                  <a:schemeClr val="bg1"/>
                </a:solidFill>
              </a:rPr>
              <a:t>atmosferickým</a:t>
            </a:r>
            <a:r>
              <a:rPr lang="cs-CZ" sz="2400" dirty="0">
                <a:solidFill>
                  <a:schemeClr val="bg1"/>
                </a:solidFill>
              </a:rPr>
              <a:t> osvětlením, </a:t>
            </a:r>
            <a:r>
              <a:rPr lang="cs-CZ" sz="2400" dirty="0" err="1">
                <a:solidFill>
                  <a:schemeClr val="bg1"/>
                </a:solidFill>
              </a:rPr>
              <a:t>efektama</a:t>
            </a:r>
            <a:r>
              <a:rPr lang="cs-CZ" sz="2400" dirty="0">
                <a:solidFill>
                  <a:schemeClr val="bg1"/>
                </a:solidFill>
              </a:rPr>
              <a:t> a </a:t>
            </a:r>
            <a:r>
              <a:rPr lang="cs-CZ" sz="2400" dirty="0" err="1">
                <a:solidFill>
                  <a:schemeClr val="bg1"/>
                </a:solidFill>
              </a:rPr>
              <a:t>zvukama</a:t>
            </a:r>
            <a:r>
              <a:rPr lang="cs-CZ" sz="2400" dirty="0">
                <a:solidFill>
                  <a:schemeClr val="bg1"/>
                </a:solidFill>
              </a:rPr>
              <a:t>. Mezi tyto efekty patří </a:t>
            </a:r>
            <a:r>
              <a:rPr lang="cs-CZ" sz="2400" dirty="0" err="1">
                <a:solidFill>
                  <a:schemeClr val="bg1"/>
                </a:solidFill>
              </a:rPr>
              <a:t>zůžené</a:t>
            </a:r>
            <a:r>
              <a:rPr lang="cs-CZ" sz="2400" dirty="0">
                <a:solidFill>
                  <a:schemeClr val="bg1"/>
                </a:solidFill>
              </a:rPr>
              <a:t> zorné pole rychlé jízdy, světelná stopa za </a:t>
            </a:r>
            <a:r>
              <a:rPr lang="cs-CZ" sz="2400" dirty="0" err="1">
                <a:solidFill>
                  <a:schemeClr val="bg1"/>
                </a:solidFill>
              </a:rPr>
              <a:t>brzovými</a:t>
            </a:r>
            <a:r>
              <a:rPr lang="cs-CZ" sz="2400" dirty="0">
                <a:solidFill>
                  <a:schemeClr val="bg1"/>
                </a:solidFill>
              </a:rPr>
              <a:t> světly,  zvuk motoru řvoucí ve vysokých otáčkách, pískajících pneumatik, nebo kouř od pneumatik.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Herní obsah hry zahrnuje 3 mapy které se liší jak denním obdobím, topologií trasy tak i okolím. Taky jsou výběr 3 auta, každé dominující na různých typech cest kvůli jízdním vlastnostem.</a:t>
            </a:r>
          </a:p>
        </p:txBody>
      </p:sp>
    </p:spTree>
    <p:extLst>
      <p:ext uri="{BB962C8B-B14F-4D97-AF65-F5344CB8AC3E}">
        <p14:creationId xmlns:p14="http://schemas.microsoft.com/office/powerpoint/2010/main" val="242657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F122E-4EDF-5C25-AFE0-A2E0BBB6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9D8A0CD1-934A-D53D-806D-125340EA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D6E2A518-CE66-0A09-BCA6-EBAE489CA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7000"/>
                    </a14:imgEffect>
                    <a14:imgEffect>
                      <a14:brightnessContrast bright="-36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8EA345-531D-DAF6-7A2A-853B23E9F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845A9D5C-6D0A-2C7A-EAD9-1855A4B66AFB}"/>
              </a:ext>
            </a:extLst>
          </p:cNvPr>
          <p:cNvSpPr txBox="1"/>
          <p:nvPr/>
        </p:nvSpPr>
        <p:spPr>
          <a:xfrm>
            <a:off x="503854" y="541176"/>
            <a:ext cx="1138334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i="1" dirty="0">
                <a:solidFill>
                  <a:schemeClr val="bg1"/>
                </a:solidFill>
              </a:rPr>
              <a:t>Jaké jsou použité nástroje?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endParaRPr lang="cs-CZ" sz="2400" dirty="0">
              <a:solidFill>
                <a:schemeClr val="bg1"/>
              </a:solidFill>
            </a:endParaRPr>
          </a:p>
          <a:p>
            <a:endParaRPr lang="cs-CZ" sz="2400" dirty="0">
              <a:solidFill>
                <a:schemeClr val="bg1"/>
              </a:solidFill>
            </a:endParaRP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Unity – Vývoj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 err="1">
                <a:solidFill>
                  <a:schemeClr val="bg1"/>
                </a:solidFill>
              </a:rPr>
              <a:t>Visual</a:t>
            </a:r>
            <a:r>
              <a:rPr lang="cs-CZ" sz="2400" dirty="0">
                <a:solidFill>
                  <a:schemeClr val="bg1"/>
                </a:solidFill>
              </a:rPr>
              <a:t> Studio </a:t>
            </a:r>
            <a:r>
              <a:rPr lang="cs-CZ" sz="2400" dirty="0" err="1">
                <a:solidFill>
                  <a:schemeClr val="bg1"/>
                </a:solidFill>
              </a:rPr>
              <a:t>Code</a:t>
            </a:r>
            <a:r>
              <a:rPr lang="cs-CZ" sz="2400" dirty="0">
                <a:solidFill>
                  <a:schemeClr val="bg1"/>
                </a:solidFill>
              </a:rPr>
              <a:t> – Skripty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GitHub – Ukládání verzí hry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Unity </a:t>
            </a:r>
            <a:r>
              <a:rPr lang="cs-CZ" sz="2400" dirty="0" err="1">
                <a:solidFill>
                  <a:schemeClr val="bg1"/>
                </a:solidFill>
              </a:rPr>
              <a:t>Asset</a:t>
            </a:r>
            <a:r>
              <a:rPr lang="cs-CZ" sz="2400" dirty="0">
                <a:solidFill>
                  <a:schemeClr val="bg1"/>
                </a:solidFill>
              </a:rPr>
              <a:t> </a:t>
            </a:r>
            <a:r>
              <a:rPr lang="cs-CZ" sz="2400" dirty="0" err="1">
                <a:solidFill>
                  <a:schemeClr val="bg1"/>
                </a:solidFill>
              </a:rPr>
              <a:t>Store</a:t>
            </a:r>
            <a:r>
              <a:rPr lang="cs-CZ" sz="2400" dirty="0">
                <a:solidFill>
                  <a:schemeClr val="bg1"/>
                </a:solidFill>
              </a:rPr>
              <a:t> – Modely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 err="1">
                <a:solidFill>
                  <a:schemeClr val="bg1"/>
                </a:solidFill>
              </a:rPr>
              <a:t>Engine</a:t>
            </a:r>
            <a:r>
              <a:rPr lang="cs-CZ" sz="2400" dirty="0">
                <a:solidFill>
                  <a:schemeClr val="bg1"/>
                </a:solidFill>
              </a:rPr>
              <a:t> Simulator – Zvuk Motoru</a:t>
            </a:r>
          </a:p>
        </p:txBody>
      </p:sp>
      <p:pic>
        <p:nvPicPr>
          <p:cNvPr id="1032" name="Picture 8" descr="Unity white logo transparent PNG - StickPNG">
            <a:extLst>
              <a:ext uri="{FF2B5EF4-FFF2-40B4-BE49-F238E27FC236}">
                <a16:creationId xmlns:a16="http://schemas.microsoft.com/office/drawing/2014/main" id="{7BE1B922-C7B8-240F-80AD-79A62F884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674" y="379356"/>
            <a:ext cx="2223281" cy="77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ursos de Visual Studio Code - Cursos Virtuales Gratis">
            <a:extLst>
              <a:ext uri="{FF2B5EF4-FFF2-40B4-BE49-F238E27FC236}">
                <a16:creationId xmlns:a16="http://schemas.microsoft.com/office/drawing/2014/main" id="{F4661512-DF80-07AD-1539-056251393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688" y="1221658"/>
            <a:ext cx="2582125" cy="145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itHub Logos and Usage · GitHub">
            <a:extLst>
              <a:ext uri="{FF2B5EF4-FFF2-40B4-BE49-F238E27FC236}">
                <a16:creationId xmlns:a16="http://schemas.microsoft.com/office/drawing/2014/main" id="{7F6C9C67-7F20-7DD0-B763-F42D77617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081" y="2727116"/>
            <a:ext cx="1268466" cy="126846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Оплата Unity Asset Store из России. Поможем оплатить. Сервис оплаты ...">
            <a:extLst>
              <a:ext uri="{FF2B5EF4-FFF2-40B4-BE49-F238E27FC236}">
                <a16:creationId xmlns:a16="http://schemas.microsoft.com/office/drawing/2014/main" id="{F26D30F9-2D67-4539-785B-4DDE5C762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126" y="3361349"/>
            <a:ext cx="4469932" cy="251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rázek 6" descr="Obsah obrázku text, Písmo, Grafika, logo">
            <a:extLst>
              <a:ext uri="{FF2B5EF4-FFF2-40B4-BE49-F238E27FC236}">
                <a16:creationId xmlns:a16="http://schemas.microsoft.com/office/drawing/2014/main" id="{41255FD3-443A-0BCA-3279-4772495C29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986" y="5357378"/>
            <a:ext cx="3574211" cy="89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5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42F37-3797-1053-05AF-8F404B6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A4C72433-FA5B-EC57-0185-06922B23D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B4B89670-0C62-8474-B410-A603CC92C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6000"/>
                    </a14:imgEffect>
                    <a14:imgEffect>
                      <a14:brightnessContrast bright="-36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67933B-5713-B497-3BBD-45DBCD9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Unity white logo transparent PNG - StickPNG">
            <a:extLst>
              <a:ext uri="{FF2B5EF4-FFF2-40B4-BE49-F238E27FC236}">
                <a16:creationId xmlns:a16="http://schemas.microsoft.com/office/drawing/2014/main" id="{904445B5-F43E-EA83-FF2F-69CEC4A28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705" y="395114"/>
            <a:ext cx="2223281" cy="77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ursos de Visual Studio Code - Cursos Virtuales Gratis">
            <a:extLst>
              <a:ext uri="{FF2B5EF4-FFF2-40B4-BE49-F238E27FC236}">
                <a16:creationId xmlns:a16="http://schemas.microsoft.com/office/drawing/2014/main" id="{6D118587-2925-7D11-8F11-DB68766B2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869" y="1403744"/>
            <a:ext cx="2360955" cy="132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itHub Logos and Usage · GitHub">
            <a:extLst>
              <a:ext uri="{FF2B5EF4-FFF2-40B4-BE49-F238E27FC236}">
                <a16:creationId xmlns:a16="http://schemas.microsoft.com/office/drawing/2014/main" id="{32308135-B3DA-3A40-5A0A-6D10E82C8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870" y="3005070"/>
            <a:ext cx="1356048" cy="13560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Оплата Unity Asset Store из России. Поможем оплатить. Сервис оплаты ...">
            <a:extLst>
              <a:ext uri="{FF2B5EF4-FFF2-40B4-BE49-F238E27FC236}">
                <a16:creationId xmlns:a16="http://schemas.microsoft.com/office/drawing/2014/main" id="{6DAFCD10-29A1-56B1-0EAF-9430913FF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13" y="3835582"/>
            <a:ext cx="3803668" cy="213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ek 3" descr="Obsah obrázku text, Písmo, Grafika, logo&#10;&#10;Obsah generovaný pomocí AI může být nesprávný.">
            <a:extLst>
              <a:ext uri="{FF2B5EF4-FFF2-40B4-BE49-F238E27FC236}">
                <a16:creationId xmlns:a16="http://schemas.microsoft.com/office/drawing/2014/main" id="{B0336752-0DCE-ED63-576D-5298FD4B27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15" y="5631628"/>
            <a:ext cx="2859758" cy="71494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9A77BF1-47BD-13A1-9D53-986A40098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871" y="505122"/>
            <a:ext cx="8036687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Unity </a:t>
            </a:r>
            <a:r>
              <a:rPr kumimoji="0" lang="cs-CZ" altLang="cs-CZ" sz="17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Engine</a:t>
            </a: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Hlavní vývojářské prostředí, které slouží k sestavení 3D scén,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simulaci fyziky a celkovému chodu hry.</a:t>
            </a:r>
            <a:endParaRPr lang="cs-CZ" altLang="cs-CZ" sz="17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cs-CZ" altLang="cs-CZ" sz="1700" dirty="0">
                <a:solidFill>
                  <a:schemeClr val="bg1"/>
                </a:solidFill>
                <a:latin typeface="Arial" panose="020B0604020202020204" pitchFamily="34" charset="0"/>
              </a:rPr>
              <a:t>Pro Unity existuje spousta on-line návodů a je mi sympatické pro 3D hru.</a:t>
            </a: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</a:t>
            </a: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Studio </a:t>
            </a:r>
            <a:r>
              <a:rPr kumimoji="0" lang="cs-CZ" altLang="cs-CZ" sz="17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Externí editor kódu, ve kterém píšu skripty v jazyce C#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 ovládání aut, logiku hry, a veškeré fungování.</a:t>
            </a:r>
            <a:endParaRPr lang="cs-CZ" altLang="cs-CZ" sz="17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cs-CZ" altLang="cs-CZ" sz="1700" dirty="0">
                <a:solidFill>
                  <a:schemeClr val="bg1"/>
                </a:solidFill>
                <a:latin typeface="Arial" panose="020B0604020202020204" pitchFamily="34" charset="0"/>
              </a:rPr>
              <a:t>Ve VSC pracuji už 4 roky.</a:t>
            </a: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GitHub: Webová platforma sloužící jako záloha a úložiště kódu,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která umožňuje sledovat historii změn v projektu. GitHub je nejpoužívanější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cs-CZ" altLang="cs-CZ" sz="1700" dirty="0">
                <a:solidFill>
                  <a:schemeClr val="bg1"/>
                </a:solidFill>
                <a:latin typeface="Arial" panose="020B0604020202020204" pitchFamily="34" charset="0"/>
              </a:rPr>
              <a:t>Pro zálohování kódu.</a:t>
            </a: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Unity </a:t>
            </a:r>
            <a:r>
              <a:rPr kumimoji="0" lang="cs-CZ" altLang="cs-CZ" sz="17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Asset</a:t>
            </a: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17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Store</a:t>
            </a: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Online obchod s doplňky, odkud čerpám specifické 3D modely,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cs-CZ" altLang="cs-CZ" sz="1700" dirty="0">
                <a:solidFill>
                  <a:schemeClr val="bg1"/>
                </a:solidFill>
                <a:latin typeface="Arial" panose="020B0604020202020204" pitchFamily="34" charset="0"/>
              </a:rPr>
              <a:t>pozadí, textury </a:t>
            </a: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nebo hotové systémy, které urychlují vývoj.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7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Engine</a:t>
            </a: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Simulator: Specializovaný nástroj od který využívám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 generování realistických zvuků motorů v různých otáčkách.</a:t>
            </a:r>
          </a:p>
        </p:txBody>
      </p:sp>
    </p:spTree>
    <p:extLst>
      <p:ext uri="{BB962C8B-B14F-4D97-AF65-F5344CB8AC3E}">
        <p14:creationId xmlns:p14="http://schemas.microsoft.com/office/powerpoint/2010/main" val="3466089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A755E-AC15-07B0-5C9F-A051EA6B1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4AF2421F-3D2E-58F7-BF46-F363B0ABD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3EEF76C2-A862-542E-F591-A7E8BAF623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2000"/>
                    </a14:imgEffect>
                    <a14:imgEffect>
                      <a14:brightnessContrast bright="-36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006FC3F-B296-033B-6D10-494AC0561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8B910B2-75BB-D174-FBB1-FB11263FB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4236" y="586596"/>
            <a:ext cx="6537432" cy="7591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sz="4000" dirty="0">
                <a:solidFill>
                  <a:srgbClr val="FFFFFF"/>
                </a:solidFill>
              </a:rPr>
              <a:t>Konkurenční tituly</a:t>
            </a:r>
          </a:p>
        </p:txBody>
      </p:sp>
      <p:pic>
        <p:nvPicPr>
          <p:cNvPr id="1026" name="Picture 2" descr="Hot Slide - Apps on Google Play">
            <a:extLst>
              <a:ext uri="{FF2B5EF4-FFF2-40B4-BE49-F238E27FC236}">
                <a16:creationId xmlns:a16="http://schemas.microsoft.com/office/drawing/2014/main" id="{68877C7F-9144-BC0C-BFE9-AF82DF042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067" y="3195637"/>
            <a:ext cx="2031847" cy="2031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 descr="Absolute Drift | Descarcă și cumpără astăzi - Epic Games Store">
            <a:extLst>
              <a:ext uri="{FF2B5EF4-FFF2-40B4-BE49-F238E27FC236}">
                <a16:creationId xmlns:a16="http://schemas.microsoft.com/office/drawing/2014/main" id="{F905EA6C-9F99-6767-FCE7-1D3743CC81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6" r="21418"/>
          <a:stretch/>
        </p:blipFill>
        <p:spPr bwMode="auto">
          <a:xfrm>
            <a:off x="1126463" y="3195636"/>
            <a:ext cx="2297551" cy="20318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 descr="PolyTrack">
            <a:extLst>
              <a:ext uri="{FF2B5EF4-FFF2-40B4-BE49-F238E27FC236}">
                <a16:creationId xmlns:a16="http://schemas.microsoft.com/office/drawing/2014/main" id="{4A3F81E7-BF1A-0BB1-128A-F7F4D7AC0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531" y="3195636"/>
            <a:ext cx="2031847" cy="2031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24BE3CFB-FB5B-3BDE-E407-A6942DD72EEB}"/>
              </a:ext>
            </a:extLst>
          </p:cNvPr>
          <p:cNvSpPr txBox="1"/>
          <p:nvPr/>
        </p:nvSpPr>
        <p:spPr>
          <a:xfrm>
            <a:off x="656376" y="2252525"/>
            <a:ext cx="323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dirty="0">
                <a:solidFill>
                  <a:schemeClr val="bg1"/>
                </a:solidFill>
                <a:latin typeface="Aptos" panose="020B0004020202020204" pitchFamily="34" charset="0"/>
              </a:rPr>
              <a:t>ABSOLUTE DRIFT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7F51D01-5FFA-CE82-96E2-9F33A9556A11}"/>
              </a:ext>
            </a:extLst>
          </p:cNvPr>
          <p:cNvSpPr txBox="1"/>
          <p:nvPr/>
        </p:nvSpPr>
        <p:spPr>
          <a:xfrm>
            <a:off x="4301128" y="2252525"/>
            <a:ext cx="323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dirty="0">
                <a:solidFill>
                  <a:schemeClr val="bg1"/>
                </a:solidFill>
                <a:latin typeface="Aptos" panose="020B0004020202020204" pitchFamily="34" charset="0"/>
              </a:rPr>
              <a:t>HOT SLIDE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4BC64CE-1F23-F8CB-2878-36B3F7DFEF6F}"/>
              </a:ext>
            </a:extLst>
          </p:cNvPr>
          <p:cNvSpPr txBox="1"/>
          <p:nvPr/>
        </p:nvSpPr>
        <p:spPr>
          <a:xfrm>
            <a:off x="8003999" y="2252525"/>
            <a:ext cx="323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dirty="0">
                <a:solidFill>
                  <a:schemeClr val="bg1"/>
                </a:solidFill>
                <a:latin typeface="Aptos" panose="020B0004020202020204" pitchFamily="34" charset="0"/>
              </a:rPr>
              <a:t>POLYTRACK</a:t>
            </a:r>
          </a:p>
        </p:txBody>
      </p:sp>
    </p:spTree>
    <p:extLst>
      <p:ext uri="{BB962C8B-B14F-4D97-AF65-F5344CB8AC3E}">
        <p14:creationId xmlns:p14="http://schemas.microsoft.com/office/powerpoint/2010/main" val="60409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437B12-DFBE-8043-C657-9D07BFE1A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24E48806-5E86-18E4-E5C1-BC629273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F65EB22E-4758-9AD4-7B91-7D3D1274A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brightnessContrast bright="-36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841AD02-BD20-E0BA-163C-0882900A0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1C3F9E-FCCE-986D-2AD4-A2E8C3D34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6296" y="180975"/>
            <a:ext cx="5713312" cy="148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Momentální stav</a:t>
            </a:r>
            <a:br>
              <a:rPr lang="cs-CZ" sz="7200" dirty="0">
                <a:solidFill>
                  <a:srgbClr val="FFFFFF"/>
                </a:solidFill>
              </a:rPr>
            </a:br>
            <a:r>
              <a:rPr lang="cs-CZ" sz="3600" dirty="0">
                <a:solidFill>
                  <a:srgbClr val="FFFFFF"/>
                </a:solidFill>
                <a:latin typeface="Gill Sans Nova" panose="020B0602020104020203" pitchFamily="34" charset="0"/>
              </a:rPr>
              <a:t>Všechny hotové body</a:t>
            </a:r>
            <a:endParaRPr lang="cs-CZ" sz="7200" dirty="0">
              <a:solidFill>
                <a:srgbClr val="FFFFFF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14DF1535-8CFF-9F34-2999-4364FC38EAB0}"/>
              </a:ext>
            </a:extLst>
          </p:cNvPr>
          <p:cNvSpPr txBox="1"/>
          <p:nvPr/>
        </p:nvSpPr>
        <p:spPr>
          <a:xfrm>
            <a:off x="430115" y="2183281"/>
            <a:ext cx="86436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2 ze 3 aut – Kompletní ovládání, chování, animace, textury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1.5 ze 3 map – jedna mapa je až na pár detailů hotová (90%), druhá mapa je hratelná ale zbývají detaily, okolní objekty (60%)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Zvukové efekty – vyřešeny efekty pískání gum při smyku, kouř, dynamický zvuk motoru u prvního auta (ostatní auta budou používat stejný skript, ale jiné zvukové stopy)</a:t>
            </a:r>
          </a:p>
          <a:p>
            <a:endParaRPr lang="cs-CZ" sz="2400" dirty="0">
              <a:solidFill>
                <a:schemeClr val="bg1"/>
              </a:solidFill>
            </a:endParaRPr>
          </a:p>
          <a:p>
            <a:r>
              <a:rPr lang="cs-CZ" sz="2400" dirty="0">
                <a:solidFill>
                  <a:schemeClr val="bg1"/>
                </a:solidFill>
              </a:rPr>
              <a:t>Vizuální efekty – naklánění auta, otáčení gum, vytáčení předních kol, kouř, světelný efekt od brzdových světel při smyku</a:t>
            </a:r>
          </a:p>
        </p:txBody>
      </p:sp>
    </p:spTree>
    <p:extLst>
      <p:ext uri="{BB962C8B-B14F-4D97-AF65-F5344CB8AC3E}">
        <p14:creationId xmlns:p14="http://schemas.microsoft.com/office/powerpoint/2010/main" val="15823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B5233-16E2-6DFA-803F-C30DA21F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34002738-705C-CE40-6DA9-55318DEB4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7721ADC5-46BD-4062-636B-8F6C9D881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9000"/>
                    </a14:imgEffect>
                    <a14:imgEffect>
                      <a14:brightnessContrast bright="-52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37FA542-614F-4F68-5544-0E4A5CDED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0827E76-0878-49A2-9991-00D30A438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4152" y="236952"/>
            <a:ext cx="5713312" cy="148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Auta</a:t>
            </a:r>
            <a:br>
              <a:rPr lang="cs-CZ" sz="7200" dirty="0">
                <a:solidFill>
                  <a:srgbClr val="FFFFFF"/>
                </a:solidFill>
              </a:rPr>
            </a:br>
            <a:r>
              <a:rPr lang="cs-CZ" sz="3600" dirty="0">
                <a:solidFill>
                  <a:srgbClr val="FFFFFF"/>
                </a:solidFill>
                <a:latin typeface="Gill Sans Nova" panose="020B0602020104020203" pitchFamily="34" charset="0"/>
              </a:rPr>
              <a:t>1) Mazda </a:t>
            </a:r>
            <a:r>
              <a:rPr lang="cs-CZ" sz="3600" dirty="0" err="1">
                <a:solidFill>
                  <a:srgbClr val="FFFFFF"/>
                </a:solidFill>
                <a:latin typeface="Gill Sans Nova" panose="020B0602020104020203" pitchFamily="34" charset="0"/>
              </a:rPr>
              <a:t>Miata</a:t>
            </a:r>
            <a:r>
              <a:rPr lang="cs-CZ" sz="3600" dirty="0">
                <a:solidFill>
                  <a:srgbClr val="FFFFFF"/>
                </a:solidFill>
                <a:latin typeface="Gill Sans Nova" panose="020B0602020104020203" pitchFamily="34" charset="0"/>
              </a:rPr>
              <a:t> MX-5 NB</a:t>
            </a:r>
            <a:endParaRPr lang="cs-CZ" sz="7200" dirty="0">
              <a:solidFill>
                <a:srgbClr val="FFFFFF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F40021B-9501-E4D7-689A-166A5DF506AF}"/>
              </a:ext>
            </a:extLst>
          </p:cNvPr>
          <p:cNvSpPr txBox="1"/>
          <p:nvPr/>
        </p:nvSpPr>
        <p:spPr>
          <a:xfrm>
            <a:off x="417140" y="628501"/>
            <a:ext cx="86436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Náhon na zadní nápravu</a:t>
            </a:r>
          </a:p>
          <a:p>
            <a:r>
              <a:rPr lang="cs-CZ" sz="2000" dirty="0">
                <a:solidFill>
                  <a:schemeClr val="bg1"/>
                </a:solidFill>
              </a:rPr>
              <a:t>Přetáčivé chování</a:t>
            </a:r>
          </a:p>
          <a:p>
            <a:r>
              <a:rPr lang="cs-CZ" sz="2000" dirty="0">
                <a:solidFill>
                  <a:schemeClr val="bg1"/>
                </a:solidFill>
              </a:rPr>
              <a:t>Náročná ovladatelnost</a:t>
            </a:r>
          </a:p>
          <a:p>
            <a:r>
              <a:rPr lang="cs-CZ" sz="2000" dirty="0">
                <a:solidFill>
                  <a:schemeClr val="bg1"/>
                </a:solidFill>
              </a:rPr>
              <a:t>Bez ruční brzdy</a:t>
            </a:r>
          </a:p>
          <a:p>
            <a:r>
              <a:rPr lang="cs-CZ" sz="2000" dirty="0">
                <a:solidFill>
                  <a:schemeClr val="bg1"/>
                </a:solidFill>
              </a:rPr>
              <a:t>Maximální rychlost:</a:t>
            </a:r>
          </a:p>
          <a:p>
            <a:r>
              <a:rPr lang="cs-CZ" sz="2000" dirty="0">
                <a:solidFill>
                  <a:schemeClr val="bg1"/>
                </a:solidFill>
              </a:rPr>
              <a:t>Mapa pro auto: </a:t>
            </a:r>
            <a:r>
              <a:rPr lang="cs-CZ" sz="2000" dirty="0" err="1">
                <a:solidFill>
                  <a:schemeClr val="bg1"/>
                </a:solidFill>
              </a:rPr>
              <a:t>Japanese</a:t>
            </a:r>
            <a:r>
              <a:rPr lang="cs-CZ" sz="2000" dirty="0">
                <a:solidFill>
                  <a:schemeClr val="bg1"/>
                </a:solidFill>
              </a:rPr>
              <a:t> </a:t>
            </a:r>
            <a:r>
              <a:rPr lang="cs-CZ" sz="2000" dirty="0" err="1">
                <a:solidFill>
                  <a:schemeClr val="bg1"/>
                </a:solidFill>
              </a:rPr>
              <a:t>Tōge</a:t>
            </a:r>
            <a:r>
              <a:rPr lang="cs-CZ" sz="2000" dirty="0">
                <a:solidFill>
                  <a:schemeClr val="bg1"/>
                </a:solidFill>
              </a:rPr>
              <a:t> (Japonské Vracečky)</a:t>
            </a: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48FF0FE5-072D-AFF1-3584-0B998506FD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59" t="15678" r="19478" b="19853"/>
          <a:stretch>
            <a:fillRect/>
          </a:stretch>
        </p:blipFill>
        <p:spPr>
          <a:xfrm>
            <a:off x="6092952" y="3314850"/>
            <a:ext cx="5585898" cy="31621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4687DE5C-FA31-A2F3-28F3-0123CACB55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050" t="22641" r="8089" b="4402"/>
          <a:stretch>
            <a:fillRect/>
          </a:stretch>
        </p:blipFill>
        <p:spPr>
          <a:xfrm>
            <a:off x="604800" y="3314850"/>
            <a:ext cx="5383049" cy="3162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8902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2C646-85DD-86C5-BFFA-80A6ECF4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DCBBFAC9-A69A-9416-6C0D-93D8B7E23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76AE465B-6BAA-DA6A-3D86-969B9F571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36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DBB5C63-41B2-94D4-1BAA-9CED3ACEC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DA12A39-B9C6-605E-ABC2-411049F6B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6959" y="215576"/>
            <a:ext cx="5713312" cy="148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Auta</a:t>
            </a:r>
            <a:br>
              <a:rPr lang="cs-CZ" sz="7200" dirty="0">
                <a:solidFill>
                  <a:srgbClr val="FFFFFF"/>
                </a:solidFill>
              </a:rPr>
            </a:br>
            <a:r>
              <a:rPr lang="cs-CZ" sz="3600" dirty="0">
                <a:solidFill>
                  <a:srgbClr val="FFFFFF"/>
                </a:solidFill>
                <a:latin typeface="Gill Sans Nova" panose="020B0602020104020203" pitchFamily="34" charset="0"/>
              </a:rPr>
              <a:t>2) Subaru </a:t>
            </a:r>
            <a:r>
              <a:rPr lang="cs-CZ" sz="3600" dirty="0" err="1">
                <a:solidFill>
                  <a:srgbClr val="FFFFFF"/>
                </a:solidFill>
                <a:latin typeface="Gill Sans Nova" panose="020B0602020104020203" pitchFamily="34" charset="0"/>
              </a:rPr>
              <a:t>Impreza</a:t>
            </a:r>
            <a:r>
              <a:rPr lang="cs-CZ" sz="3600" dirty="0">
                <a:solidFill>
                  <a:srgbClr val="FFFFFF"/>
                </a:solidFill>
                <a:latin typeface="Gill Sans Nova" panose="020B0602020104020203" pitchFamily="34" charset="0"/>
              </a:rPr>
              <a:t> WRX STI</a:t>
            </a:r>
            <a:endParaRPr lang="cs-CZ" sz="7200" dirty="0">
              <a:solidFill>
                <a:srgbClr val="FFFFFF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9074EC0-8925-A375-3EE8-A480B2F0D3F4}"/>
              </a:ext>
            </a:extLst>
          </p:cNvPr>
          <p:cNvSpPr txBox="1"/>
          <p:nvPr/>
        </p:nvSpPr>
        <p:spPr>
          <a:xfrm>
            <a:off x="439947" y="576381"/>
            <a:ext cx="86436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Náhon na všechny 4 kola</a:t>
            </a:r>
          </a:p>
          <a:p>
            <a:r>
              <a:rPr lang="cs-CZ" sz="2000" dirty="0">
                <a:solidFill>
                  <a:schemeClr val="bg1"/>
                </a:solidFill>
              </a:rPr>
              <a:t>Lehce Přetáčivé chování</a:t>
            </a:r>
          </a:p>
          <a:p>
            <a:r>
              <a:rPr lang="cs-CZ" sz="2000" dirty="0">
                <a:solidFill>
                  <a:schemeClr val="bg1"/>
                </a:solidFill>
              </a:rPr>
              <a:t>Dobrá ovladatelnost</a:t>
            </a:r>
          </a:p>
          <a:p>
            <a:r>
              <a:rPr lang="cs-CZ" sz="2000" dirty="0">
                <a:solidFill>
                  <a:schemeClr val="bg1"/>
                </a:solidFill>
              </a:rPr>
              <a:t>S hydraulickou ruční brzdou</a:t>
            </a:r>
          </a:p>
          <a:p>
            <a:r>
              <a:rPr lang="cs-CZ" sz="2000" dirty="0">
                <a:solidFill>
                  <a:schemeClr val="bg1"/>
                </a:solidFill>
              </a:rPr>
              <a:t>Mapa pro auto: Winter </a:t>
            </a:r>
            <a:r>
              <a:rPr lang="cs-CZ" sz="2000" dirty="0" err="1">
                <a:solidFill>
                  <a:schemeClr val="bg1"/>
                </a:solidFill>
              </a:rPr>
              <a:t>Forest</a:t>
            </a:r>
            <a:r>
              <a:rPr lang="cs-CZ" sz="2000" dirty="0">
                <a:solidFill>
                  <a:schemeClr val="bg1"/>
                </a:solidFill>
              </a:rPr>
              <a:t>  (Zimní les)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D6832E76-58BF-ED99-8164-C688A761A4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2000"/>
                    </a14:imgEffect>
                    <a14:imgEffect>
                      <a14:brightnessContrast bright="1000" contrast="12000"/>
                    </a14:imgEffect>
                  </a14:imgLayer>
                </a14:imgProps>
              </a:ext>
            </a:extLst>
          </a:blip>
          <a:srcRect l="8406" t="13919" r="16407" b="6667"/>
          <a:stretch>
            <a:fillRect/>
          </a:stretch>
        </p:blipFill>
        <p:spPr>
          <a:xfrm>
            <a:off x="6092952" y="3048628"/>
            <a:ext cx="5675644" cy="33720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EE479775-0C64-29EC-A577-C4B9C41B4D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9000"/>
                    </a14:imgEffect>
                  </a14:imgLayer>
                </a14:imgProps>
              </a:ext>
            </a:extLst>
          </a:blip>
          <a:srcRect l="7949" t="14712" r="10858"/>
          <a:stretch>
            <a:fillRect/>
          </a:stretch>
        </p:blipFill>
        <p:spPr>
          <a:xfrm>
            <a:off x="423404" y="3048629"/>
            <a:ext cx="5707011" cy="33720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3652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7FB7A-5633-0889-5C2E-43E8000F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99509046-FCC7-5B3B-41DF-C566DB05A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508FA429-D87E-FDFF-BC0A-943A633CB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3000"/>
                    </a14:imgEffect>
                    <a14:imgEffect>
                      <a14:brightnessContrast bright="-36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47B8ABC-3097-2775-4981-95CA4C19B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CA52122-03B1-B6F5-2EE6-1482418C5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165" y="650135"/>
            <a:ext cx="5713312" cy="148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l"/>
            <a:r>
              <a:rPr lang="cs-CZ" sz="7200" dirty="0">
                <a:solidFill>
                  <a:srgbClr val="FFFFFF"/>
                </a:solidFill>
              </a:rPr>
              <a:t>Mapy</a:t>
            </a:r>
            <a:br>
              <a:rPr lang="cs-CZ" sz="7200" dirty="0">
                <a:solidFill>
                  <a:srgbClr val="FFFFFF"/>
                </a:solidFill>
              </a:rPr>
            </a:br>
            <a:r>
              <a:rPr lang="cs-CZ" sz="3600" dirty="0">
                <a:solidFill>
                  <a:srgbClr val="FFFFFF"/>
                </a:solidFill>
              </a:rPr>
              <a:t>1) </a:t>
            </a:r>
            <a:r>
              <a:rPr lang="cs-CZ" sz="3600" dirty="0" err="1">
                <a:solidFill>
                  <a:srgbClr val="FFFFFF"/>
                </a:solidFill>
              </a:rPr>
              <a:t>Japanese</a:t>
            </a:r>
            <a:r>
              <a:rPr lang="cs-CZ" sz="3600" dirty="0">
                <a:solidFill>
                  <a:srgbClr val="FFFFFF"/>
                </a:solidFill>
              </a:rPr>
              <a:t> </a:t>
            </a:r>
            <a:r>
              <a:rPr lang="cs-CZ" sz="3600" dirty="0" err="1">
                <a:solidFill>
                  <a:srgbClr val="FFFFFF"/>
                </a:solidFill>
              </a:rPr>
              <a:t>Touge</a:t>
            </a:r>
            <a:br>
              <a:rPr lang="cs-CZ" sz="3600" dirty="0">
                <a:solidFill>
                  <a:srgbClr val="FFFFFF"/>
                </a:solidFill>
              </a:rPr>
            </a:br>
            <a:r>
              <a:rPr lang="cs-CZ" sz="3600" dirty="0">
                <a:solidFill>
                  <a:srgbClr val="FFFFFF"/>
                </a:solidFill>
              </a:rPr>
              <a:t>(Japonské Vracečky)</a:t>
            </a:r>
            <a:endParaRPr lang="cs-CZ" sz="7200" dirty="0">
              <a:solidFill>
                <a:srgbClr val="FFFFFF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18EAD95F-8D09-BB35-F176-A7A433616788}"/>
              </a:ext>
            </a:extLst>
          </p:cNvPr>
          <p:cNvSpPr txBox="1"/>
          <p:nvPr/>
        </p:nvSpPr>
        <p:spPr>
          <a:xfrm>
            <a:off x="381165" y="3460330"/>
            <a:ext cx="8643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u="sng" dirty="0">
                <a:solidFill>
                  <a:schemeClr val="bg1"/>
                </a:solidFill>
              </a:rPr>
              <a:t>Geometrie trasy:</a:t>
            </a:r>
          </a:p>
          <a:p>
            <a:r>
              <a:rPr lang="cs-CZ" sz="2000" dirty="0">
                <a:solidFill>
                  <a:schemeClr val="bg1"/>
                </a:solidFill>
              </a:rPr>
              <a:t>Ostré klikaté za zatáčky (až 180°)</a:t>
            </a:r>
          </a:p>
          <a:p>
            <a:r>
              <a:rPr lang="cs-CZ" sz="2000" dirty="0">
                <a:solidFill>
                  <a:schemeClr val="bg1"/>
                </a:solidFill>
              </a:rPr>
              <a:t>Permanentní lehké klesání</a:t>
            </a:r>
          </a:p>
          <a:p>
            <a:r>
              <a:rPr lang="cs-CZ" sz="2000" dirty="0">
                <a:solidFill>
                  <a:schemeClr val="bg1"/>
                </a:solidFill>
              </a:rPr>
              <a:t>Lehké klesání celou trasu</a:t>
            </a:r>
          </a:p>
          <a:p>
            <a:endParaRPr lang="cs-CZ" sz="2000" dirty="0">
              <a:solidFill>
                <a:schemeClr val="bg1"/>
              </a:solidFill>
            </a:endParaRPr>
          </a:p>
          <a:p>
            <a:r>
              <a:rPr lang="cs-CZ" sz="2000" u="sng" dirty="0">
                <a:solidFill>
                  <a:schemeClr val="bg1"/>
                </a:solidFill>
              </a:rPr>
              <a:t>Detaily:</a:t>
            </a:r>
          </a:p>
          <a:p>
            <a:r>
              <a:rPr lang="cs-CZ" sz="2000" dirty="0">
                <a:solidFill>
                  <a:schemeClr val="bg1"/>
                </a:solidFill>
              </a:rPr>
              <a:t>Stromy u zatáček</a:t>
            </a:r>
          </a:p>
          <a:p>
            <a:r>
              <a:rPr lang="cs-CZ" sz="2000" dirty="0">
                <a:solidFill>
                  <a:schemeClr val="bg1"/>
                </a:solidFill>
              </a:rPr>
              <a:t>Široká silnice</a:t>
            </a:r>
          </a:p>
          <a:p>
            <a:r>
              <a:rPr lang="cs-CZ" sz="2000" dirty="0">
                <a:solidFill>
                  <a:schemeClr val="bg1"/>
                </a:solidFill>
              </a:rPr>
              <a:t>Minimum přírodního světla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7D47E59-B6A2-220D-D47F-E0045E0C44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88" t="21701" r="28792" b="35091"/>
          <a:stretch>
            <a:fillRect/>
          </a:stretch>
        </p:blipFill>
        <p:spPr>
          <a:xfrm>
            <a:off x="6096000" y="3672670"/>
            <a:ext cx="5973143" cy="30421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D3EFEC1A-4988-D156-B900-15FBE7343F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083" t="12889" r="28329" b="34370"/>
          <a:stretch>
            <a:fillRect/>
          </a:stretch>
        </p:blipFill>
        <p:spPr>
          <a:xfrm>
            <a:off x="6096000" y="143144"/>
            <a:ext cx="5973144" cy="34349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2789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5BC67-1C4C-8F7D-3627-DFD0BE70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32856CC5-3C71-E5CF-7C0A-6255DB684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BEBDCB2B-7F1E-524B-88FA-58D513AA6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4000"/>
                    </a14:imgEffect>
                    <a14:imgEffect>
                      <a14:brightnessContrast bright="-36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744943-8581-2012-7D9C-227394BFB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2990A61-117B-F7B7-B87C-5EF25C119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264" y="719350"/>
            <a:ext cx="5713312" cy="148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l"/>
            <a:r>
              <a:rPr lang="cs-CZ" sz="7200" dirty="0">
                <a:solidFill>
                  <a:srgbClr val="FFFFFF"/>
                </a:solidFill>
              </a:rPr>
              <a:t>Mapy</a:t>
            </a:r>
            <a:br>
              <a:rPr lang="cs-CZ" sz="7200" dirty="0">
                <a:solidFill>
                  <a:srgbClr val="FFFFFF"/>
                </a:solidFill>
              </a:rPr>
            </a:br>
            <a:r>
              <a:rPr lang="cs-CZ" sz="3600" dirty="0">
                <a:solidFill>
                  <a:srgbClr val="FFFFFF"/>
                </a:solidFill>
                <a:latin typeface="Gill Sans Nova" panose="020B0602020104020203" pitchFamily="34" charset="0"/>
              </a:rPr>
              <a:t>2) </a:t>
            </a:r>
            <a:r>
              <a:rPr lang="cs-CZ" sz="3600" dirty="0">
                <a:solidFill>
                  <a:schemeClr val="bg1"/>
                </a:solidFill>
              </a:rPr>
              <a:t>Winter </a:t>
            </a:r>
            <a:r>
              <a:rPr lang="cs-CZ" sz="3600" dirty="0" err="1">
                <a:solidFill>
                  <a:schemeClr val="bg1"/>
                </a:solidFill>
              </a:rPr>
              <a:t>Forest</a:t>
            </a:r>
            <a:br>
              <a:rPr lang="cs-CZ" sz="3600" dirty="0">
                <a:solidFill>
                  <a:schemeClr val="bg1"/>
                </a:solidFill>
              </a:rPr>
            </a:br>
            <a:r>
              <a:rPr lang="cs-CZ" sz="3600" dirty="0">
                <a:solidFill>
                  <a:schemeClr val="bg1"/>
                </a:solidFill>
              </a:rPr>
              <a:t>(Zimní les)</a:t>
            </a:r>
            <a:endParaRPr lang="cs-CZ" sz="7200" dirty="0">
              <a:solidFill>
                <a:srgbClr val="FFFFFF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3E3A774-FC16-A6D4-8D19-444CF5376495}"/>
              </a:ext>
            </a:extLst>
          </p:cNvPr>
          <p:cNvSpPr txBox="1"/>
          <p:nvPr/>
        </p:nvSpPr>
        <p:spPr>
          <a:xfrm>
            <a:off x="305264" y="3804815"/>
            <a:ext cx="86436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u="sng" dirty="0">
                <a:solidFill>
                  <a:schemeClr val="bg1"/>
                </a:solidFill>
              </a:rPr>
              <a:t>Geometrie trasy:</a:t>
            </a:r>
          </a:p>
          <a:p>
            <a:r>
              <a:rPr lang="cs-CZ" sz="2000" dirty="0">
                <a:solidFill>
                  <a:schemeClr val="bg1"/>
                </a:solidFill>
              </a:rPr>
              <a:t>Lehčí zatáčky, občas ostré (až 180°)</a:t>
            </a:r>
          </a:p>
          <a:p>
            <a:r>
              <a:rPr lang="cs-CZ" sz="2000" dirty="0">
                <a:solidFill>
                  <a:schemeClr val="bg1"/>
                </a:solidFill>
              </a:rPr>
              <a:t>Klikaté zatáčky (z leva hned do </a:t>
            </a:r>
            <a:r>
              <a:rPr lang="cs-CZ" sz="2000" dirty="0" err="1">
                <a:solidFill>
                  <a:schemeClr val="bg1"/>
                </a:solidFill>
              </a:rPr>
              <a:t>prava</a:t>
            </a:r>
            <a:r>
              <a:rPr lang="cs-CZ" sz="2000" dirty="0">
                <a:solidFill>
                  <a:schemeClr val="bg1"/>
                </a:solidFill>
              </a:rPr>
              <a:t>)</a:t>
            </a:r>
          </a:p>
          <a:p>
            <a:r>
              <a:rPr lang="cs-CZ" sz="2000" dirty="0">
                <a:solidFill>
                  <a:schemeClr val="bg1"/>
                </a:solidFill>
              </a:rPr>
              <a:t>Žádné klesání nebo převýšení</a:t>
            </a:r>
          </a:p>
          <a:p>
            <a:endParaRPr lang="cs-CZ" sz="2000" dirty="0">
              <a:solidFill>
                <a:schemeClr val="bg1"/>
              </a:solidFill>
            </a:endParaRPr>
          </a:p>
          <a:p>
            <a:r>
              <a:rPr lang="cs-CZ" sz="2000" u="sng" dirty="0">
                <a:solidFill>
                  <a:schemeClr val="bg1"/>
                </a:solidFill>
              </a:rPr>
              <a:t>Detaily:</a:t>
            </a:r>
          </a:p>
          <a:p>
            <a:r>
              <a:rPr lang="cs-CZ" sz="2000" dirty="0">
                <a:solidFill>
                  <a:schemeClr val="bg1"/>
                </a:solidFill>
              </a:rPr>
              <a:t>Oranžové osvětlení</a:t>
            </a:r>
          </a:p>
          <a:p>
            <a:r>
              <a:rPr lang="cs-CZ" sz="2000" dirty="0">
                <a:solidFill>
                  <a:schemeClr val="bg1"/>
                </a:solidFill>
              </a:rPr>
              <a:t>Středně široká silnice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EE45F8F-1B12-9680-9168-EE60F9C111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167" t="13333" r="25667" b="34074"/>
          <a:stretch>
            <a:fillRect/>
          </a:stretch>
        </p:blipFill>
        <p:spPr>
          <a:xfrm>
            <a:off x="6173425" y="298662"/>
            <a:ext cx="5806397" cy="31137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3CCC486D-B7C1-99D3-C2ED-2D07174278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916" t="12741" r="26348" b="34666"/>
          <a:stretch>
            <a:fillRect/>
          </a:stretch>
        </p:blipFill>
        <p:spPr>
          <a:xfrm>
            <a:off x="6173425" y="3501016"/>
            <a:ext cx="5850599" cy="3162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1479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36FCF-176C-A265-6E13-2D701B2B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D0C7AE05-2015-5868-2E4C-62E042ABC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13007FDE-97C8-0873-F154-D9F00DD42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4000"/>
                    </a14:imgEffect>
                    <a14:imgEffect>
                      <a14:brightnessContrast bright="-36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F87332-CF94-C361-FECE-60ED86855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3E1A9A7-812D-B004-6B7A-39130A8BC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35973" y="432480"/>
            <a:ext cx="5713312" cy="148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Grafika/GUI</a:t>
            </a:r>
            <a:br>
              <a:rPr lang="cs-CZ" sz="7200" dirty="0">
                <a:solidFill>
                  <a:srgbClr val="FFFFFF"/>
                </a:solidFill>
              </a:rPr>
            </a:br>
            <a:r>
              <a:rPr lang="cs-CZ" sz="3600" dirty="0">
                <a:solidFill>
                  <a:schemeClr val="bg1"/>
                </a:solidFill>
              </a:rPr>
              <a:t>Hlavní menu</a:t>
            </a:r>
            <a:endParaRPr lang="cs-CZ" sz="7200" dirty="0">
              <a:solidFill>
                <a:srgbClr val="FFFFFF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1BD12522-DA1C-22A2-26B6-BE7160BB8C9B}"/>
              </a:ext>
            </a:extLst>
          </p:cNvPr>
          <p:cNvSpPr txBox="1"/>
          <p:nvPr/>
        </p:nvSpPr>
        <p:spPr>
          <a:xfrm>
            <a:off x="5446897" y="399780"/>
            <a:ext cx="64724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Momentálně Menu obsahuje vizuálně hezké</a:t>
            </a:r>
          </a:p>
          <a:p>
            <a:r>
              <a:rPr lang="cs-CZ" sz="2000" dirty="0">
                <a:solidFill>
                  <a:schemeClr val="bg1"/>
                </a:solidFill>
              </a:rPr>
              <a:t> a animované pozadí.</a:t>
            </a:r>
          </a:p>
          <a:p>
            <a:endParaRPr lang="cs-CZ" sz="2000" dirty="0">
              <a:solidFill>
                <a:schemeClr val="bg1"/>
              </a:solidFill>
            </a:endParaRPr>
          </a:p>
          <a:p>
            <a:r>
              <a:rPr lang="cs-CZ" sz="2000" dirty="0">
                <a:solidFill>
                  <a:schemeClr val="bg1"/>
                </a:solidFill>
              </a:rPr>
              <a:t>V menu lze vybrat i mapu,</a:t>
            </a:r>
          </a:p>
          <a:p>
            <a:r>
              <a:rPr lang="cs-CZ" sz="2000" dirty="0">
                <a:solidFill>
                  <a:schemeClr val="bg1"/>
                </a:solidFill>
              </a:rPr>
              <a:t>ve které je i automaticky přiřazeno auto určené pro ni.</a:t>
            </a:r>
          </a:p>
          <a:p>
            <a:endParaRPr lang="cs-CZ" sz="2000" dirty="0">
              <a:solidFill>
                <a:schemeClr val="bg1"/>
              </a:solidFill>
            </a:endParaRPr>
          </a:p>
          <a:p>
            <a:r>
              <a:rPr lang="cs-CZ" sz="2000" dirty="0">
                <a:solidFill>
                  <a:schemeClr val="bg1"/>
                </a:solidFill>
              </a:rPr>
              <a:t>Mezi hotové prvky GUI také patří i tachometry reagující na rychlost auta.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6C9864B-AE94-8AB8-BE50-240447857D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00" t="17778" r="27417" b="34222"/>
          <a:stretch>
            <a:fillRect/>
          </a:stretch>
        </p:blipFill>
        <p:spPr>
          <a:xfrm>
            <a:off x="223535" y="3645074"/>
            <a:ext cx="5700763" cy="29839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Obrázek 7" descr="Obsah obrázku snímek obrazovky, Multimediální software, text, software&#10;&#10;Obsah generovaný pomocí AI může být nesprávný.">
            <a:extLst>
              <a:ext uri="{FF2B5EF4-FFF2-40B4-BE49-F238E27FC236}">
                <a16:creationId xmlns:a16="http://schemas.microsoft.com/office/drawing/2014/main" id="{690FFF64-E70A-89F0-9FBF-7E3FC1688E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0" t="65811" r="71533"/>
          <a:stretch>
            <a:fillRect/>
          </a:stretch>
        </p:blipFill>
        <p:spPr>
          <a:xfrm>
            <a:off x="6678979" y="4123598"/>
            <a:ext cx="2004165" cy="18757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Obrázek 9" descr="Obsah obrázku snímek obrazovky, Multimediální software, text, software&#10;&#10;Obsah generovaný pomocí AI může být nesprávný.">
            <a:extLst>
              <a:ext uri="{FF2B5EF4-FFF2-40B4-BE49-F238E27FC236}">
                <a16:creationId xmlns:a16="http://schemas.microsoft.com/office/drawing/2014/main" id="{CF2A48CA-0F0A-1F8F-1152-882CACBD7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09" t="68092" r="8861" b="2455"/>
          <a:stretch>
            <a:fillRect/>
          </a:stretch>
        </p:blipFill>
        <p:spPr>
          <a:xfrm>
            <a:off x="8994315" y="4123598"/>
            <a:ext cx="2675523" cy="18757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4286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69F40-676B-E060-96F9-8E314766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5599759E-008C-8B4A-213C-FE4E1B78B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ma, noc, světlo&#10;&#10;Obsah vygenerovaný umělou inteligencí může být nesprávný.">
            <a:extLst>
              <a:ext uri="{FF2B5EF4-FFF2-40B4-BE49-F238E27FC236}">
                <a16:creationId xmlns:a16="http://schemas.microsoft.com/office/drawing/2014/main" id="{5F67FECE-E7C9-5A5F-91BD-508FC4557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2000"/>
                    </a14:imgEffect>
                    <a14:imgEffect>
                      <a14:brightnessContrast bright="-68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FD573C-B60B-6340-56CC-127D6EEBE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32BDAF-682C-BE17-18AE-E7DA64096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1034" y="-234371"/>
            <a:ext cx="8043835" cy="148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sz="5400" dirty="0">
                <a:solidFill>
                  <a:srgbClr val="FFFFFF"/>
                </a:solidFill>
              </a:rPr>
              <a:t>Co je potřeba dokončit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112A5B45-5480-2572-C19A-0B2C89A7C5A3}"/>
              </a:ext>
            </a:extLst>
          </p:cNvPr>
          <p:cNvSpPr txBox="1"/>
          <p:nvPr/>
        </p:nvSpPr>
        <p:spPr>
          <a:xfrm>
            <a:off x="396815" y="1621766"/>
            <a:ext cx="89800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+mj-lt"/>
              </a:rPr>
              <a:t>3. Auto ze 3</a:t>
            </a:r>
          </a:p>
          <a:p>
            <a:endParaRPr lang="cs-CZ" sz="2400" dirty="0">
              <a:solidFill>
                <a:schemeClr val="bg1"/>
              </a:solidFill>
              <a:latin typeface="+mj-lt"/>
            </a:endParaRPr>
          </a:p>
          <a:p>
            <a:r>
              <a:rPr lang="cs-CZ" sz="2400" dirty="0">
                <a:solidFill>
                  <a:schemeClr val="bg1"/>
                </a:solidFill>
                <a:latin typeface="+mj-lt"/>
              </a:rPr>
              <a:t>Dokončení 2. mapy ze 3.</a:t>
            </a:r>
          </a:p>
          <a:p>
            <a:endParaRPr lang="cs-CZ" sz="2400" dirty="0">
              <a:solidFill>
                <a:schemeClr val="bg1"/>
              </a:solidFill>
              <a:latin typeface="+mj-lt"/>
            </a:endParaRPr>
          </a:p>
          <a:p>
            <a:r>
              <a:rPr lang="cs-CZ" sz="2400" dirty="0">
                <a:solidFill>
                  <a:schemeClr val="bg1"/>
                </a:solidFill>
                <a:latin typeface="+mj-lt"/>
              </a:rPr>
              <a:t>Návrh a dokončení 3. mapy ze 3.</a:t>
            </a:r>
          </a:p>
          <a:p>
            <a:endParaRPr lang="cs-CZ" sz="2400" dirty="0">
              <a:solidFill>
                <a:schemeClr val="bg1"/>
              </a:solidFill>
              <a:latin typeface="+mj-lt"/>
            </a:endParaRPr>
          </a:p>
          <a:p>
            <a:r>
              <a:rPr lang="cs-CZ" sz="2400" dirty="0">
                <a:solidFill>
                  <a:schemeClr val="bg1"/>
                </a:solidFill>
                <a:latin typeface="+mj-lt"/>
              </a:rPr>
              <a:t>Kompletní menu s výběrem aut a map + nastavení.</a:t>
            </a:r>
          </a:p>
          <a:p>
            <a:r>
              <a:rPr lang="cs-CZ" sz="2400" dirty="0">
                <a:solidFill>
                  <a:schemeClr val="bg1"/>
                </a:solidFill>
                <a:latin typeface="+mj-lt"/>
              </a:rPr>
              <a:t>Cíl, pravidla a omezení hry.</a:t>
            </a:r>
          </a:p>
          <a:p>
            <a:endParaRPr lang="cs-CZ" sz="2400" dirty="0">
              <a:solidFill>
                <a:schemeClr val="bg1"/>
              </a:solidFill>
              <a:latin typeface="+mj-lt"/>
            </a:endParaRPr>
          </a:p>
          <a:p>
            <a:r>
              <a:rPr lang="cs-CZ" sz="2400" dirty="0">
                <a:solidFill>
                  <a:schemeClr val="bg1"/>
                </a:solidFill>
                <a:latin typeface="+mj-lt"/>
              </a:rPr>
              <a:t>Vylepšit simulaci zvuku motoru.</a:t>
            </a:r>
          </a:p>
          <a:p>
            <a:endParaRPr lang="cs-CZ" sz="2400" dirty="0">
              <a:solidFill>
                <a:schemeClr val="bg1"/>
              </a:solidFill>
              <a:latin typeface="+mj-lt"/>
            </a:endParaRPr>
          </a:p>
          <a:p>
            <a:r>
              <a:rPr lang="cs-CZ" sz="2400" dirty="0">
                <a:solidFill>
                  <a:schemeClr val="bg1"/>
                </a:solidFill>
                <a:latin typeface="+mj-lt"/>
              </a:rPr>
              <a:t>Dokončit vizuální efekty při jízdě.</a:t>
            </a:r>
          </a:p>
        </p:txBody>
      </p:sp>
    </p:spTree>
    <p:extLst>
      <p:ext uri="{BB962C8B-B14F-4D97-AF65-F5344CB8AC3E}">
        <p14:creationId xmlns:p14="http://schemas.microsoft.com/office/powerpoint/2010/main" val="230921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a5d9d35-25f3-4d46-87f7-331fd560ae1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C534702C3E974AB4F4989B0C216874" ma:contentTypeVersion="14" ma:contentTypeDescription="Vytvoří nový dokument" ma:contentTypeScope="" ma:versionID="b71a11d3c453333d7bf49a720797967a">
  <xsd:schema xmlns:xsd="http://www.w3.org/2001/XMLSchema" xmlns:xs="http://www.w3.org/2001/XMLSchema" xmlns:p="http://schemas.microsoft.com/office/2006/metadata/properties" xmlns:ns3="4a5d9d35-25f3-4d46-87f7-331fd560ae1a" xmlns:ns4="66c429ef-c8da-4343-baf4-877a129d65c9" targetNamespace="http://schemas.microsoft.com/office/2006/metadata/properties" ma:root="true" ma:fieldsID="c17b20691f4c408f0eedc12a80765f80" ns3:_="" ns4:_="">
    <xsd:import namespace="4a5d9d35-25f3-4d46-87f7-331fd560ae1a"/>
    <xsd:import namespace="66c429ef-c8da-4343-baf4-877a129d65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5d9d35-25f3-4d46-87f7-331fd560ae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c429ef-c8da-4343-baf4-877a129d65c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C0E7C6-2458-444D-B7E2-AEA0FABBDEF7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  <ds:schemaRef ds:uri="66c429ef-c8da-4343-baf4-877a129d65c9"/>
    <ds:schemaRef ds:uri="http://purl.org/dc/terms/"/>
    <ds:schemaRef ds:uri="http://schemas.openxmlformats.org/package/2006/metadata/core-properties"/>
    <ds:schemaRef ds:uri="4a5d9d35-25f3-4d46-87f7-331fd560ae1a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5E38D2B-EE3C-47C9-97C8-6AE33174F2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5d9d35-25f3-4d46-87f7-331fd560ae1a"/>
    <ds:schemaRef ds:uri="66c429ef-c8da-4343-baf4-877a129d65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CA8087-3F27-4645-BA50-1C445D9805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803</Words>
  <Application>Microsoft Office PowerPoint</Application>
  <PresentationFormat>Širokoúhlá obrazovka</PresentationFormat>
  <Paragraphs>123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Gill Sans Nova</vt:lpstr>
      <vt:lpstr>Gisha</vt:lpstr>
      <vt:lpstr>Motiv Office</vt:lpstr>
      <vt:lpstr>3D závodní hra Always in a Drift</vt:lpstr>
      <vt:lpstr>Prezentace aplikace PowerPoint</vt:lpstr>
      <vt:lpstr>Prezentace aplikace PowerPoint</vt:lpstr>
      <vt:lpstr>Prezentace aplikace PowerPoint</vt:lpstr>
      <vt:lpstr>Prezentace aplikace PowerPoint</vt:lpstr>
      <vt:lpstr>Konkurenční tituly</vt:lpstr>
      <vt:lpstr>Momentální stav Všechny hotové body</vt:lpstr>
      <vt:lpstr>Auta 1) Mazda Miata MX-5 NB</vt:lpstr>
      <vt:lpstr>Auta 2) Subaru Impreza WRX STI</vt:lpstr>
      <vt:lpstr>Mapy 1) Japanese Touge (Japonské Vracečky)</vt:lpstr>
      <vt:lpstr>Mapy 2) Winter Forest (Zimní les)</vt:lpstr>
      <vt:lpstr>Grafika/GUI Hlavní menu</vt:lpstr>
      <vt:lpstr>Co je potřeba dokončit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Pelikán</dc:creator>
  <cp:lastModifiedBy>Robin Pelikán</cp:lastModifiedBy>
  <cp:revision>8</cp:revision>
  <dcterms:created xsi:type="dcterms:W3CDTF">2026-01-06T08:01:14Z</dcterms:created>
  <dcterms:modified xsi:type="dcterms:W3CDTF">2026-01-19T22:27:42Z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0x0101001EC534702C3E974AB4F4989B0C216874</vt:lpwstr>
  </property>
</Properties>
</file>